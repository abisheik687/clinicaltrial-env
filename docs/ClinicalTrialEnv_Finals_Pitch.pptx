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9f6f6f465a463b" /><Relationship Type="http://schemas.openxmlformats.org/officeDocument/2006/relationships/extended-properties" Target="/docProps/app.xml" Id="R8d527dd4bdc14cfa" /><Relationship Type="http://schemas.openxmlformats.org/officeDocument/2006/relationships/officeDocument" Target="/ppt/presentation.xml" Id="R4d5875a1304945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e98d4bcf974ac4"/>
  </p:sldMasterIdLst>
  <p:notesMasterIdLst>
    <p:notesMasterId xmlns:r="http://schemas.openxmlformats.org/officeDocument/2006/relationships" r:id="R3bb5f29715ec4230"/>
  </p:notesMasterIdLst>
  <p:sldIdLst>
    <p:sldId xmlns:r="http://schemas.openxmlformats.org/officeDocument/2006/relationships" id="256" r:id="Rb3b43d1e421b4f5a"/>
    <p:sldId xmlns:r="http://schemas.openxmlformats.org/officeDocument/2006/relationships" id="257" r:id="R74d78d0248054484"/>
    <p:sldId xmlns:r="http://schemas.openxmlformats.org/officeDocument/2006/relationships" id="258" r:id="R7c34a5d2684e411f"/>
    <p:sldId xmlns:r="http://schemas.openxmlformats.org/officeDocument/2006/relationships" id="259" r:id="Rb84b2c91bb244f7e"/>
    <p:sldId xmlns:r="http://schemas.openxmlformats.org/officeDocument/2006/relationships" id="260" r:id="Rf128d891808b46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98d4bcf974ac4" /><Relationship Type="http://schemas.openxmlformats.org/officeDocument/2006/relationships/theme" Target="/ppt/theme/theme1.xml" Id="R4d6a03643885442f" /><Relationship Type="http://schemas.openxmlformats.org/officeDocument/2006/relationships/notesMaster" Target="/ppt/notesMasters/notesMaster1.xml" Id="R3bb5f29715ec4230" /><Relationship Type="http://schemas.openxmlformats.org/officeDocument/2006/relationships/presProps" Target="/ppt/presProps.xml" Id="R628b4d2ce9674000" /><Relationship Type="http://schemas.openxmlformats.org/officeDocument/2006/relationships/viewProps" Target="/ppt/viewProps.xml" Id="R4570e589a2704688" /><Relationship Type="http://schemas.openxmlformats.org/officeDocument/2006/relationships/tableStyles" Target="/ppt/tableStyles.xml" Id="Re3cc65db8243456f" /><Relationship Type="http://schemas.openxmlformats.org/officeDocument/2006/relationships/slide" Target="/ppt/slides/slide1.xml" Id="Rb3b43d1e421b4f5a" /><Relationship Type="http://schemas.openxmlformats.org/officeDocument/2006/relationships/slide" Target="/ppt/slides/slide2.xml" Id="R74d78d0248054484" /><Relationship Type="http://schemas.openxmlformats.org/officeDocument/2006/relationships/slide" Target="/ppt/slides/slide3.xml" Id="R7c34a5d2684e411f" /><Relationship Type="http://schemas.openxmlformats.org/officeDocument/2006/relationships/slide" Target="/ppt/slides/slide4.xml" Id="Rb84b2c91bb244f7e" /><Relationship Type="http://schemas.openxmlformats.org/officeDocument/2006/relationships/slide" Target="/ppt/slides/slide5.xml" Id="Rf128d891808b46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3ff6390f65345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b7806058074ef7" /><Relationship Type="http://schemas.openxmlformats.org/officeDocument/2006/relationships/notesMaster" Target="/ppt/notesMasters/notesMaster1.xml" Id="R549ef807613e4e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e14b50c5a248d6" /><Relationship Type="http://schemas.openxmlformats.org/officeDocument/2006/relationships/notesMaster" Target="/ppt/notesMasters/notesMaster1.xml" Id="Recf446179c1a4f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f78e9b69094343" /><Relationship Type="http://schemas.openxmlformats.org/officeDocument/2006/relationships/notesMaster" Target="/ppt/notesMasters/notesMaster1.xml" Id="R1daca9d9897247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1e40fb5a994f65" /><Relationship Type="http://schemas.openxmlformats.org/officeDocument/2006/relationships/notesMaster" Target="/ppt/notesMasters/notesMaster1.xml" Id="R284bc288d3d246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3a60244e3548bf" /><Relationship Type="http://schemas.openxmlformats.org/officeDocument/2006/relationships/notesMaster" Target="/ppt/notesMasters/notesMaster1.xml" Id="R143fdb2dbe4c45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1ea498c5549b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29223044-48DC-49AD-8807-B50CBD0FB6C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8E0823-F161-4981-8742-D229096E8C00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B5E5B4-B9A7-4239-B133-7FCC17F982F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D43E74-F80C-46BE-8656-57895EAA4C4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ABCF4-B3C2-4835-8205-067EBCC7037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e635114bb084ee6" /><Relationship Type="http://schemas.openxmlformats.org/officeDocument/2006/relationships/slideLayout" Target="/ppt/slideLayouts/slideLayout2.xml" Id="R3355b656dced4b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CB3A28-E70B-4EC1-9C67-DFEAE63D0A7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55b656dced4b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439b89073542a5" /><Relationship Type="http://schemas.openxmlformats.org/officeDocument/2006/relationships/notesSlide" Target="/ppt/notesSlides/notesSlide1.xml" Id="R52e1a69d5feb49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24ec0bda41452f" /><Relationship Type="http://schemas.openxmlformats.org/officeDocument/2006/relationships/notesSlide" Target="/ppt/notesSlides/notesSlide2.xml" Id="R36f6fde0a3184d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4c714705b6407d" /><Relationship Type="http://schemas.openxmlformats.org/officeDocument/2006/relationships/notesSlide" Target="/ppt/notesSlides/notesSlide3.xml" Id="R1edc1921995d4f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93149e17204a98" /><Relationship Type="http://schemas.openxmlformats.org/officeDocument/2006/relationships/notesSlide" Target="/ppt/notesSlides/notesSlide4.xml" Id="Rcc2a2a4d6f3342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91f72b4a9d41b6" /><Relationship Type="http://schemas.openxmlformats.org/officeDocument/2006/relationships/notesSlide" Target="/ppt/notesSlides/notesSlide5.xml" Id="Rc6281559d60141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ABCF4-B3C2-4835-8205-067EBCC703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15BEA-2406-46EB-9B46-6EFB2CB7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6057900"/>
          </a:xfrm>
          <a:prstGeom xmlns:a="http://schemas.openxmlformats.org/drawingml/2006/main" prst="roundRect">
            <a:avLst>
              <a:gd name="adj" fmla="val 1258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374FA-29C3-4543-A035-C66D8A23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B6CB0"/>
                </a:solidFill>
              </a:rPr>
              <a:t>OPENENV HACKATHON FINALS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6F416-65FA-402C-ACD4-9BDD2EFF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7324A"/>
                </a:solidFill>
              </a:rPr>
              <a:t>Clinical Trial Operations Arena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DA390-FC42-4E71-8B17-50F775D7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81075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C7288"/>
                </a:solidFill>
              </a:rPr>
              <a:t>A minimal clinical trial operations environment where an agent must screen a patient, react to a protocol amendment, schedule a safe follow-up, and escalate a seizure-symptom event.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04FDF-64FD-4B40-989A-0EB84464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352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DF75D-7F90-4E48-BD42-9C53B9CA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0099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324A"/>
                </a:solidFill>
              </a:rPr>
              <a:t>Why this is compelling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2DAC9-83FA-4111-A409-7BC0B9ED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0099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Professional workflow instead of a toy puzzle</a:t>
            </a:r>
          </a:p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Verifier-based reward with safety-critical outcome checks</a:t>
            </a:r>
          </a:p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Judge-friendly demo on a fixed seeded episode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859BF-564A-46B7-9275-E85A08B9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3352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82A66-4E55-4350-A245-556A6FFC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30099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324A"/>
                </a:solidFill>
              </a:rPr>
              <a:t>What the agent must 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C00D3-EF5C-44A8-A2D7-15D1C273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30099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Screen against inclusion and exclusion criteria</a:t>
            </a:r>
          </a:p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Re-check a criterion after an amendment appears</a:t>
            </a:r>
          </a:p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Schedule a valid follow-up day and handle safety escalation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762BD-8A10-420C-8F2F-470F170D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47950"/>
            <a:ext cx="3352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DF4E7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28B3B-9D8A-400F-B713-CF2B40BC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30099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324A"/>
                </a:solidFill>
              </a:rPr>
              <a:t>Submission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32D96-AEE3-4C86-A814-66CAF5E3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30099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OpenEnv-style API hosted on Hugging Face Spaces</a:t>
            </a:r>
          </a:p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Training, eval, and plotting scripts in the repo</a:t>
            </a:r>
          </a:p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Interactive demo, walkthrough, and linked artifacts</a:t>
            </a:r>
          </a:p>
        </p:txBody>
      </p:sp>
    </p:spTree>
    <p:extLst>
      <p:ext uri="{BB962C8B-B14F-4D97-AF65-F5344CB8AC3E}">
        <p14:creationId xmlns:p14="http://schemas.microsoft.com/office/powerpoint/2010/main" val="494075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ABCF4-B3C2-4835-8205-067EBCC703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0262E-9D52-455E-AC2C-72BDF4C1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B6CB0"/>
                </a:solidFill>
              </a:rPr>
              <a:t>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1CD44-A46A-4285-8171-98788043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7324A"/>
                </a:solidFill>
              </a:rPr>
              <a:t>One bounded episode, four judge-visible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678F2-E183-478A-94EE-1E97B968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81075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C7288"/>
                </a:solidFill>
              </a:rPr>
              <a:t>The finals scope adds just enough long-horizon workflow to make the environment feel real while keeping verification simple.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9E388-2E7A-4056-B435-FFDE2067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CC44C-FA02-4C62-B5FF-1BCECC0C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7324A"/>
                </a:solidFill>
              </a:rPr>
              <a:t>1. Screening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F1EE3-5E8A-49D4-98A9-595CDBB4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4767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C7288"/>
                </a:solidFill>
              </a:rPr>
              <a:t>Review protocol criteria, inspect patient evidence, and use clarifications sparingly.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9B842-E56B-470C-8A5D-79C8A706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3FDD3-74A8-47C8-89D3-104A6303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43200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7324A"/>
                </a:solidFill>
              </a:rPr>
              <a:t>2. Amendment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FF46C-EDE8-4A64-8031-339F306F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44767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C7288"/>
                </a:solidFill>
              </a:rPr>
              <a:t>Notice the protocol change and re-check INC-003 under the updated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D9B6F-8C3B-44C9-9CE8-1BBB2D2D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411D4-7D13-414C-82F5-F3AF71EA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7324A"/>
                </a:solidFill>
              </a:rPr>
              <a:t>3. Follow-up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7DD55-67B2-4F3B-80CD-7CD756C7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44767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C7288"/>
                </a:solidFill>
              </a:rPr>
              <a:t>After safe enrollment, schedule the follow-up visit inside day 7 to day 10.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C0951-3CB3-4C43-A537-E8FDA9EE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5C4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EB76F-BA26-4D9A-8A03-5EB4B13E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7324A"/>
                </a:solidFill>
              </a:rPr>
              <a:t>4. 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624E3-EBC3-489C-ACF1-03C8B044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00600"/>
            <a:ext cx="44767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C7288"/>
                </a:solidFill>
              </a:rPr>
              <a:t>When seizure symptoms appear before follow-up, escalate to the investigator.</a:t>
            </a:r>
          </a:p>
        </p:txBody>
      </p:sp>
    </p:spTree>
    <p:extLst>
      <p:ext uri="{BB962C8B-B14F-4D97-AF65-F5344CB8AC3E}">
        <p14:creationId xmlns:p14="http://schemas.microsoft.com/office/powerpoint/2010/main" val="1254694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ABCF4-B3C2-4835-8205-067EBCC703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18A26-740C-4E8C-960B-96F38DC4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B6CB0"/>
                </a:solidFill>
              </a:rPr>
              <a:t>REWARD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92793-15F9-494E-85E1-9FEDB5F9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7324A"/>
                </a:solidFill>
              </a:rPr>
              <a:t>Verifier-first scoring keeps the task legible and hard to game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61143-2829-437B-BDA5-96E36219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81075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C7288"/>
                </a:solidFill>
              </a:rPr>
              <a:t>The environment scores the final workflow outcome rather than dense intermediate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7381C-E1E4-468A-A00C-0092C018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94347-7426-4A15-B2CC-9EFCBD7F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21336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324A"/>
                </a:solidFill>
              </a:rPr>
              <a:t>Eligibility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882E7-945D-4469-BF90-A8E94A29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1336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Correct safe enroll or exclude decision under the latest protocol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3F278-3674-4557-97E7-C10F80E2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7000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3558D-E609-4B09-AAFF-F7DE43C0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00350"/>
            <a:ext cx="21336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324A"/>
                </a:solidFill>
              </a:rPr>
              <a:t>Amendment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1C615-D653-4B24-AD3F-ECECDB7D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62300"/>
            <a:ext cx="21336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Correct re-check when the amendment changes the active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D94FC-2431-4DCD-A00B-872171F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38FF6-61B2-4D07-8961-52B685EB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21336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324A"/>
                </a:solidFill>
              </a:rPr>
              <a:t>Scheduling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51AC6-3941-49D1-A446-398EDD06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21336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Follow-up day stays inside the allowed visit window.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11987-69A2-4A6C-B169-A01666CD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5C4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AD7D6-CBCA-4881-819F-6638DDEB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21336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324A"/>
                </a:solidFill>
              </a:rPr>
              <a:t>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A750F-C5C9-421A-A51A-F229909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62300"/>
            <a:ext cx="21336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Seizure-symptom event gets investigator escalation instead of silence.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810EC-75C3-479F-B62B-F2D26AFB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47750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Unsafe enrollment returns -1. Invalid but schema-valid actions get a small penalty. Diagnostic metrics are tracked separately so judges can see how the policy behaves, not just whether it finished.</a:t>
            </a:r>
          </a:p>
        </p:txBody>
      </p:sp>
    </p:spTree>
    <p:extLst>
      <p:ext uri="{BB962C8B-B14F-4D97-AF65-F5344CB8AC3E}">
        <p14:creationId xmlns:p14="http://schemas.microsoft.com/office/powerpoint/2010/main" val="260775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ABCF4-B3C2-4835-8205-067EBCC703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69FC3-A824-47BA-A40E-09903803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B6CB0"/>
                </a:solidFill>
              </a:rPr>
              <a:t>WHY THIS SHOULD 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C1B57-EFC7-437E-8220-F02ACA02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7324A"/>
                </a:solidFill>
              </a:rPr>
              <a:t>The project is ambitious enough to matter and simple enough to verify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8DE08-52D6-4B60-96B9-4B798006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81075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C7288"/>
                </a:solidFill>
              </a:rPr>
              <a:t>It gives judges a crisp story, a real RL environment, and a safety-critical workflow they can understand in under two minutes.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7A633-F538-4AD1-8F60-E104B0C7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352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C1EFD-E630-4B9F-8B58-3BC70DB0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30099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324A"/>
                </a:solidFill>
              </a:rPr>
              <a:t>Innovation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27363-420C-497F-AFE7-87E3BA65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30099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Moves beyond screening into a minimal operations workflow</a:t>
            </a:r>
          </a:p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Targets OpenEnv Theme 3.1 professional tasks directly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78780-E190-44C8-B11B-7B4A6421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67000"/>
            <a:ext cx="3352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A0E15-A92C-457A-9277-9CF9B5FD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30099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324A"/>
                </a:solidFill>
              </a:rPr>
              <a:t>Storytelling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63707-5DE8-40E5-94F0-5EA380BF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62300"/>
            <a:ext cx="30099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Seeded walkthrough is easy for mentors and judges to follow</a:t>
            </a:r>
          </a:p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Amendment, scheduling, and safety escalation are visually obvious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50D09-8690-4BF6-990D-221C4403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3352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DF4E7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CC905-7F74-408C-8188-7EBE2057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30099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7324A"/>
                </a:solidFill>
              </a:rPr>
              <a:t>Execution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AC432-6E03-4D34-B5C8-D041FAF2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62300"/>
            <a:ext cx="30099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Repo includes training, evaluation, plots, demo, and deployment package</a:t>
            </a:r>
          </a:p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• Artifacts and links are organized so judges can verify quickly</a:t>
            </a:r>
          </a:p>
        </p:txBody>
      </p:sp>
    </p:spTree>
    <p:extLst>
      <p:ext uri="{BB962C8B-B14F-4D97-AF65-F5344CB8AC3E}">
        <p14:creationId xmlns:p14="http://schemas.microsoft.com/office/powerpoint/2010/main" val="1685058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4ABCF4-B3C2-4835-8205-067EBCC703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08BE7-7228-420C-9D7A-4A911385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B6CB0"/>
                </a:solidFill>
              </a:rPr>
              <a:t>FINAL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61B75-941B-4878-8FF1-48D0D70F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7324A"/>
                </a:solidFill>
              </a:rPr>
              <a:t>What judges will see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AC1A5-9D26-4C98-B90B-657B0D4D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81075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C7288"/>
                </a:solidFill>
              </a:rPr>
              <a:t>Use this deck together with the README, plots, and seeded demo to tell a fast, credible finalist 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D963F-7B60-4799-BFDC-97F288A8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9334500" cy="1714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17324A"/>
                </a:solidFill>
              </a:rPr>
              <a:t>• Open the Hugging Face Space and play the seeded Task 3 walkthrough.</a:t>
            </a:r>
          </a:p>
          <a:p xmlns:a="http://schemas.openxmlformats.org/drawingml/2006/main">
            <a:r>
              <a:rPr sz="1650" b="0">
                <a:solidFill>
                  <a:srgbClr val="17324A"/>
                </a:solidFill>
              </a:rPr>
              <a:t>• Show the patient screening decision, amendment re-check, follow-up day, and safety escalation.</a:t>
            </a:r>
          </a:p>
          <a:p xmlns:a="http://schemas.openxmlformats.org/drawingml/2006/main">
            <a:r>
              <a:rPr sz="1650" b="0">
                <a:solidFill>
                  <a:srgbClr val="17324A"/>
                </a:solidFill>
              </a:rPr>
              <a:t>• Reference the reward curve and held-out comparison chart from the README.</a:t>
            </a:r>
          </a:p>
          <a:p xmlns:a="http://schemas.openxmlformats.org/drawingml/2006/main">
            <a:r>
              <a:rPr sz="1650" b="0">
                <a:solidFill>
                  <a:srgbClr val="17324A"/>
                </a:solidFill>
              </a:rPr>
              <a:t>• Close with why verifier-based professional workflows are valuable for LLM RL training.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C6C6E-ACDF-4D45-A4F5-6B7A6308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2952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DE7E7"/>
          </a:solidFill>
          <a:ln xmlns:a="http://schemas.openxmlformats.org/drawingml/2006/main" w="9525">
            <a:solidFill>
              <a:srgbClr val="D6E2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A38F3-C178-4EB2-AD43-F434468E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3370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FDE7E7"/>
                </a:solidFill>
              </a:rPr>
              <a:t>Submission 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7DF21-E225-4717-A48D-B945FF45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38125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38100" rIns="381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7324A"/>
                </a:solidFill>
              </a:rPr>
              <a:t>Do not expand scope before the training evidence is strong. The fastest path to a top submission is a clean story plus a clear before/after result.</a:t>
            </a:r>
          </a:p>
        </p:txBody>
      </p:sp>
    </p:spTree>
    <p:extLst>
      <p:ext uri="{BB962C8B-B14F-4D97-AF65-F5344CB8AC3E}">
        <p14:creationId xmlns:p14="http://schemas.microsoft.com/office/powerpoint/2010/main" val="911099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2026-04-23T13:29:19.7330000Z</dcterms:created>
  <dcterms:modified xsi:type="dcterms:W3CDTF">2026-04-23T13:29:19.7340000Z</dcterms:modified>
</coreProperties>
</file>